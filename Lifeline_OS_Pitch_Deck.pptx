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72" r:id="rId11"/>
    <p:sldId id="266" r:id="rId12"/>
    <p:sldId id="273" r:id="rId13"/>
    <p:sldId id="267" r:id="rId14"/>
    <p:sldId id="268" r:id="rId15"/>
    <p:sldId id="269" r:id="rId16"/>
    <p:sldId id="270" r:id="rId17"/>
    <p:sldId id="271" r:id="rId1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67C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35" d="100"/>
          <a:sy n="135" d="100"/>
        </p:scale>
        <p:origin x="84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1_img1_1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271552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834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Google Sans"/>
              </a:defRPr>
            </a:pPr>
            <a:r>
              <a:t>Team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383280"/>
            <a:ext cx="8046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  <a:latin typeface="Google Sans"/>
              </a:defRPr>
            </a:pPr>
            <a:r>
              <a:t>a.   Team name: Team Lifeline (Lifeline OS)</a:t>
            </a:r>
          </a:p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  <a:latin typeface="Google Sans"/>
              </a:defRPr>
            </a:pPr>
            <a:r>
              <a:t>b.   Team leader name: Mansi Dhruv</a:t>
            </a:r>
          </a:p>
          <a:p>
            <a:pPr>
              <a:defRPr sz="1600">
                <a:solidFill>
                  <a:srgbClr val="0F172A"/>
                </a:solidFill>
                <a:latin typeface="Google Sans"/>
              </a:defRPr>
            </a:pPr>
            <a:r>
              <a:t>c.   Problem Statement: AI-assisted flood impact intelligence and resilient emergency-response decision support under extreme climate disruptions in rural &amp; regional Assam (Barak River Basin).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3_img1_3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0735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658368"/>
            <a:ext cx="8449056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Google Sans"/>
              </a:defRPr>
            </a:pPr>
            <a:r>
              <a:t>Brief about the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1188720"/>
            <a:ext cx="844905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2563EB"/>
                </a:solidFill>
                <a:latin typeface="Google Sans"/>
              </a:defRPr>
            </a:pPr>
            <a:r>
              <a:rPr dirty="0"/>
              <a:t>Evidence-Driven Emergency Response Decision Support for Flooded Road Networks and Stranded Populations</a:t>
            </a:r>
          </a:p>
          <a:p>
            <a:pPr>
              <a:spcAft>
                <a:spcPts val="800"/>
              </a:spcAft>
            </a:pPr>
            <a:r>
              <a:rPr sz="1200" b="1" dirty="0">
                <a:solidFill>
                  <a:srgbClr val="0F172A"/>
                </a:solidFill>
              </a:rPr>
              <a:t>•  The Challenge in Regional Basins: </a:t>
            </a:r>
            <a:r>
              <a:rPr sz="1200" b="0" dirty="0">
                <a:solidFill>
                  <a:srgbClr val="475569"/>
                </a:solidFill>
              </a:rPr>
              <a:t>During peak monsoon inundations across Assam's Barak River Basin (</a:t>
            </a:r>
            <a:r>
              <a:rPr sz="1200" b="0" dirty="0" err="1">
                <a:solidFill>
                  <a:srgbClr val="475569"/>
                </a:solidFill>
              </a:rPr>
              <a:t>Cachar</a:t>
            </a:r>
            <a:r>
              <a:rPr sz="1200" b="0" dirty="0">
                <a:solidFill>
                  <a:srgbClr val="475569"/>
                </a:solidFill>
              </a:rPr>
              <a:t> District), rapid river surges sever primary corridors, causeways, and bridges. Civil defense commanders face severe evidence fragmentation: satellite passes arrive hours apart, emergency calls are contradictory, and relief dispatches operate on intuition without knowing which communities have crossed the clinical 60-minute 'Golden Hour' cutoff.</a:t>
            </a:r>
          </a:p>
          <a:p>
            <a:pPr>
              <a:spcAft>
                <a:spcPts val="800"/>
              </a:spcAft>
            </a:pPr>
            <a:r>
              <a:rPr sz="1200" b="1" dirty="0">
                <a:solidFill>
                  <a:srgbClr val="0F172A"/>
                </a:solidFill>
              </a:rPr>
              <a:t>•  What Lifeline OS Is: </a:t>
            </a:r>
            <a:r>
              <a:rPr sz="1200" b="0" dirty="0">
                <a:solidFill>
                  <a:srgbClr val="475569"/>
                </a:solidFill>
              </a:rPr>
              <a:t>A deterministic geospatial decision-support platform designed to transform multi-source flood evidence into auditable, life-saving field actions. It fuses satellite radar (Copernicus Sentinel-1 SAR), Open-</a:t>
            </a:r>
            <a:r>
              <a:rPr sz="1200" b="0" dirty="0" err="1">
                <a:solidFill>
                  <a:srgbClr val="475569"/>
                </a:solidFill>
              </a:rPr>
              <a:t>Meteo</a:t>
            </a:r>
            <a:r>
              <a:rPr sz="1200" b="0" dirty="0">
                <a:solidFill>
                  <a:srgbClr val="475569"/>
                </a:solidFill>
              </a:rPr>
              <a:t> precipitation, and </a:t>
            </a:r>
            <a:r>
              <a:rPr sz="1200" b="0" dirty="0" err="1">
                <a:solidFill>
                  <a:srgbClr val="475569"/>
                </a:solidFill>
              </a:rPr>
              <a:t>GloFAS</a:t>
            </a:r>
            <a:r>
              <a:rPr sz="1200" b="0" dirty="0">
                <a:solidFill>
                  <a:srgbClr val="475569"/>
                </a:solidFill>
              </a:rPr>
              <a:t> river telemetry with OpenStreetMap road networks.</a:t>
            </a:r>
          </a:p>
          <a:p>
            <a:pPr>
              <a:spcAft>
                <a:spcPts val="800"/>
              </a:spcAft>
            </a:pPr>
            <a:r>
              <a:rPr sz="1200" b="1" dirty="0">
                <a:solidFill>
                  <a:srgbClr val="0F172A"/>
                </a:solidFill>
              </a:rPr>
              <a:t>•  How It Operates: </a:t>
            </a:r>
            <a:r>
              <a:rPr sz="1200" b="0" dirty="0">
                <a:solidFill>
                  <a:srgbClr val="475569"/>
                </a:solidFill>
              </a:rPr>
              <a:t>Rather than just displaying passive hazard maps, Lifeline OS computes percolation severance across a 31,214-node directed graph. It identifies completely isolated population clusters, calculates detour delays to Block Primary Health Centers (BPHCs), runs k-medoids optimization to position relief boat staging pads on high-elevation nodes, and evaluates temporary Bailey bridge deployments by accessibility return on investment.</a:t>
            </a:r>
          </a:p>
          <a:p>
            <a:pPr>
              <a:spcAft>
                <a:spcPts val="800"/>
              </a:spcAft>
            </a:pPr>
            <a:r>
              <a:rPr sz="1200" b="1" dirty="0">
                <a:solidFill>
                  <a:srgbClr val="0F172A"/>
                </a:solidFill>
              </a:rPr>
              <a:t>•  Operational Truthfulness Rule: </a:t>
            </a:r>
            <a:r>
              <a:rPr sz="1200" b="0" dirty="0">
                <a:solidFill>
                  <a:srgbClr val="475569"/>
                </a:solidFill>
              </a:rPr>
              <a:t>No unverified damage claims. Spatial intersections are classified strictly as 'Potential Inundation / Exposure.' Where no safe road exists, the engine returns an explicit NO_ROUTE error instead of hallucinating submerged dirt tracks. All actions require signed civil commander approval under the Disaster Management Act 2005.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3_img1_3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0735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658368"/>
            <a:ext cx="8449056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Google Sans"/>
              </a:defRPr>
            </a:pPr>
            <a:r>
              <a:t>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1188720"/>
            <a:ext cx="844905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 dirty="0">
                <a:solidFill>
                  <a:srgbClr val="2563EB"/>
                </a:solidFill>
              </a:rPr>
              <a:t>●  How different is it from any of the other existing ideas?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rPr dirty="0"/>
              <a:t>Legacy flood management portals are passive, retrospective dashboards that simply display colored inundation heatmaps. They do not know where vehicles can actually drive, whether a clinic is physically reachable, or where a stranded pregnant mother is cut off. Lifeline OS is an active operational engine: it bridges the gap between hydrology and graph routing, calculating dynamic shortest paths, vehicle submersion limits, and physical reachability in real time.</a:t>
            </a:r>
          </a:p>
          <a:p>
            <a:pPr>
              <a:spcAft>
                <a:spcPts val="200"/>
              </a:spcAft>
            </a:pPr>
            <a:r>
              <a:rPr sz="1300" b="1" dirty="0">
                <a:solidFill>
                  <a:srgbClr val="2563EB"/>
                </a:solidFill>
              </a:rPr>
              <a:t>●  How will it be able to solve the problem?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rPr dirty="0"/>
              <a:t>1. Rapid Spatial Severance: Slices 69,663 road edges against radar flood extents in under 850ms, identifying 1,830 disrupted segments without guesswork.</a:t>
            </a:r>
            <a:br>
              <a:rPr dirty="0"/>
            </a:br>
            <a:r>
              <a:rPr dirty="0"/>
              <a:t>2. Triage Prioritization: Weights isolated settlements by healthcare urgency (dialysis dependency, infants, days severed).</a:t>
            </a:r>
            <a:br>
              <a:rPr dirty="0"/>
            </a:br>
            <a:r>
              <a:rPr dirty="0"/>
              <a:t>3. Staging Optimization: Solves k-medoids facility location to station SDRF rescue boats on safe, dry high-elevation pads.</a:t>
            </a:r>
            <a:br>
              <a:rPr dirty="0"/>
            </a:br>
            <a:r>
              <a:rPr dirty="0"/>
              <a:t>4. Micro-Intervention ROI: Solves where a single modular Bailey bridge restores the greatest connectivity: ROI = (Reconnected Pop + Sum delta-km) / Span Length.</a:t>
            </a:r>
          </a:p>
          <a:p>
            <a:pPr>
              <a:spcAft>
                <a:spcPts val="200"/>
              </a:spcAft>
            </a:pPr>
            <a:r>
              <a:rPr sz="1300" b="1" dirty="0">
                <a:solidFill>
                  <a:srgbClr val="2563EB"/>
                </a:solidFill>
              </a:rPr>
              <a:t>●  USP of the proposed solution (Unique Selling Propositions)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rPr dirty="0"/>
              <a:t>• Zero Route Hallucination: Terminates with explicit NO_ROUTE boundaries when roads are submerged, preventing vehicle drownings.</a:t>
            </a:r>
            <a:br>
              <a:rPr dirty="0"/>
            </a:br>
            <a:r>
              <a:rPr dirty="0"/>
              <a:t>• 7-Tier Epistemic Lineage: Every road, polygon, and recommendation is tagged Observed, Official, Reported, Modelled, Assumed, or Simulated.</a:t>
            </a:r>
            <a:br>
              <a:rPr dirty="0"/>
            </a:br>
            <a:r>
              <a:rPr dirty="0"/>
              <a:t>• Edge-First Client Architecture: Runs 100% offline in Web Workers backed by </a:t>
            </a:r>
            <a:r>
              <a:rPr dirty="0" err="1"/>
              <a:t>IndexedDB</a:t>
            </a:r>
            <a:r>
              <a:rPr dirty="0"/>
              <a:t> during regional power/telecom blackouts.</a:t>
            </a:r>
            <a:br>
              <a:rPr dirty="0"/>
            </a:br>
            <a:r>
              <a:rPr dirty="0"/>
              <a:t>• Legally Auditable Command Log: Formats evidence-linked situation memos and creates SHA-256 Merkle hashes for post-disaster judicial review.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3_img1_3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0735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658368"/>
            <a:ext cx="8449056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Google Sans"/>
              </a:defRPr>
            </a:pPr>
            <a:r>
              <a:t>List of features offered by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1188720"/>
            <a:ext cx="844905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50" b="1" dirty="0">
                <a:solidFill>
                  <a:srgbClr val="0F172A"/>
                </a:solidFill>
              </a:rPr>
              <a:t>1. Multi-Source Environmental Ingestion &amp; Lineage — </a:t>
            </a:r>
            <a:r>
              <a:rPr sz="1100" b="0" dirty="0">
                <a:solidFill>
                  <a:srgbClr val="475569"/>
                </a:solidFill>
              </a:rPr>
              <a:t>Automated ingest of Copernicus Sentinel-1 SAR (10m radar), Open-</a:t>
            </a:r>
            <a:r>
              <a:rPr sz="1100" b="0" dirty="0" err="1">
                <a:solidFill>
                  <a:srgbClr val="475569"/>
                </a:solidFill>
              </a:rPr>
              <a:t>Meteo</a:t>
            </a:r>
            <a:r>
              <a:rPr sz="1100" b="0" dirty="0">
                <a:solidFill>
                  <a:srgbClr val="475569"/>
                </a:solidFill>
              </a:rPr>
              <a:t> precipitation, </a:t>
            </a:r>
            <a:r>
              <a:rPr sz="1100" b="0" dirty="0" err="1">
                <a:solidFill>
                  <a:srgbClr val="475569"/>
                </a:solidFill>
              </a:rPr>
              <a:t>GloFAS</a:t>
            </a:r>
            <a:r>
              <a:rPr sz="1100" b="0" dirty="0">
                <a:solidFill>
                  <a:srgbClr val="475569"/>
                </a:solidFill>
              </a:rPr>
              <a:t> river discharge ensembles, and OSM PBF road networks into client-side Web Workers.</a:t>
            </a:r>
          </a:p>
          <a:p>
            <a:pPr>
              <a:spcAft>
                <a:spcPts val="400"/>
              </a:spcAft>
            </a:pPr>
            <a:r>
              <a:rPr sz="1150" b="1" dirty="0">
                <a:solidFill>
                  <a:srgbClr val="0F172A"/>
                </a:solidFill>
              </a:rPr>
              <a:t>2. 7-Tier Epistemic Provenance Engine — </a:t>
            </a:r>
            <a:r>
              <a:rPr sz="1100" b="0" dirty="0">
                <a:solidFill>
                  <a:srgbClr val="475569"/>
                </a:solidFill>
              </a:rPr>
              <a:t>Enforces strict Zod schema validation, 6-hour temporal TTL staleness monitoring, and classifies every data point into rigorous epistemological tiers (Observed | Official | Reported | Modelled | Assumed | Simulated).</a:t>
            </a:r>
          </a:p>
          <a:p>
            <a:pPr>
              <a:spcAft>
                <a:spcPts val="400"/>
              </a:spcAft>
            </a:pPr>
            <a:r>
              <a:rPr sz="1150" b="1" dirty="0">
                <a:solidFill>
                  <a:srgbClr val="0F172A"/>
                </a:solidFill>
              </a:rPr>
              <a:t>3. Topological Percolation &amp; Cut-Edge Analysis — </a:t>
            </a:r>
            <a:r>
              <a:rPr sz="1100" b="0" dirty="0">
                <a:solidFill>
                  <a:srgbClr val="475569"/>
                </a:solidFill>
              </a:rPr>
              <a:t>Metric UTM 46N spatial intersection identifying 1,830 severed road segments in </a:t>
            </a:r>
            <a:r>
              <a:rPr sz="1100" b="0" dirty="0" err="1">
                <a:solidFill>
                  <a:srgbClr val="475569"/>
                </a:solidFill>
              </a:rPr>
              <a:t>Cachar</a:t>
            </a:r>
            <a:r>
              <a:rPr sz="1100" b="0" dirty="0">
                <a:solidFill>
                  <a:srgbClr val="475569"/>
                </a:solidFill>
              </a:rPr>
              <a:t> District; classifies segments as 'Potential Inundation' without unverified damage assumptions.</a:t>
            </a:r>
          </a:p>
          <a:p>
            <a:pPr>
              <a:spcAft>
                <a:spcPts val="400"/>
              </a:spcAft>
            </a:pPr>
            <a:r>
              <a:rPr sz="1150" b="1" dirty="0">
                <a:solidFill>
                  <a:srgbClr val="0F172A"/>
                </a:solidFill>
              </a:rPr>
              <a:t>4. Dynamic Dijkstra Transit &amp; Golden-Hour Audit — </a:t>
            </a:r>
            <a:r>
              <a:rPr sz="1100" b="0" dirty="0">
                <a:solidFill>
                  <a:srgbClr val="475569"/>
                </a:solidFill>
              </a:rPr>
              <a:t>Evaluates travel times for 319 settlements to Block Primary Health Centers (BPHCs) across a 31,214-node graph; flags isolated clusters exceeding the critical 60-minute emergency medical limit.</a:t>
            </a:r>
          </a:p>
          <a:p>
            <a:pPr>
              <a:spcAft>
                <a:spcPts val="400"/>
              </a:spcAft>
            </a:pPr>
            <a:r>
              <a:rPr sz="1150" b="1" dirty="0">
                <a:solidFill>
                  <a:srgbClr val="0F172A"/>
                </a:solidFill>
              </a:rPr>
              <a:t>5. Pre-Positioning Supply Hub Optimization (k-Medoids) — </a:t>
            </a:r>
            <a:r>
              <a:rPr sz="1100" b="0" dirty="0">
                <a:solidFill>
                  <a:srgbClr val="475569"/>
                </a:solidFill>
              </a:rPr>
              <a:t>Calculates optimal non-flooded, high-elevation staging pads for SDRF relief boats and mobile medical units adjacent to cut-off clusters to minimize water-transit distances.</a:t>
            </a:r>
          </a:p>
          <a:p>
            <a:pPr>
              <a:spcAft>
                <a:spcPts val="400"/>
              </a:spcAft>
            </a:pPr>
            <a:r>
              <a:rPr sz="1150" b="1" dirty="0">
                <a:solidFill>
                  <a:srgbClr val="0F172A"/>
                </a:solidFill>
              </a:rPr>
              <a:t>6. Micro-Intervention ROI Engine (The Engineering Fix) — </a:t>
            </a:r>
            <a:r>
              <a:rPr sz="1100" b="0" dirty="0">
                <a:solidFill>
                  <a:srgbClr val="475569"/>
                </a:solidFill>
              </a:rPr>
              <a:t>Ranks candidate modular Bailey bridge crossings and culvert restorations by accessibility return on investment: ROI(e) = (Reconnected Population + Sum delta-km Saved) / Span Length.</a:t>
            </a:r>
          </a:p>
          <a:p>
            <a:pPr>
              <a:spcAft>
                <a:spcPts val="400"/>
              </a:spcAft>
            </a:pPr>
            <a:r>
              <a:rPr sz="1150" b="1" dirty="0">
                <a:solidFill>
                  <a:srgbClr val="0F172A"/>
                </a:solidFill>
              </a:rPr>
              <a:t>7. Civil Commander Terminal &amp; State Ledger — </a:t>
            </a:r>
            <a:r>
              <a:rPr sz="1100" b="0" dirty="0">
                <a:solidFill>
                  <a:srgbClr val="475569"/>
                </a:solidFill>
              </a:rPr>
              <a:t>Dual-panel 2D/3D tactical map, digital sanction workflow under Disaster Management Act 2005, multi-channel alert dispatch (SMS, </a:t>
            </a:r>
            <a:r>
              <a:rPr sz="1100" b="0" dirty="0" err="1">
                <a:solidFill>
                  <a:srgbClr val="475569"/>
                </a:solidFill>
              </a:rPr>
              <a:t>ntfy</a:t>
            </a:r>
            <a:r>
              <a:rPr sz="1100" b="0" dirty="0">
                <a:solidFill>
                  <a:srgbClr val="475569"/>
                </a:solidFill>
              </a:rPr>
              <a:t>), and immutable SHA-256 Merkle audit trail.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3_img1_3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0735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658368"/>
            <a:ext cx="8449056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Google Sans"/>
              </a:defRPr>
            </a:pPr>
            <a:r>
              <a:t>Process flow diagram or Use-case diagram</a:t>
            </a:r>
          </a:p>
        </p:txBody>
      </p:sp>
      <p:pic>
        <p:nvPicPr>
          <p:cNvPr id="4" name="Picture 3" descr="lifeline_os_process_swimla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262" y="1097280"/>
            <a:ext cx="6900821" cy="38530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59083" y="1110464"/>
            <a:ext cx="177869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Google Sans"/>
              </a:defRPr>
            </a:pPr>
            <a:r>
              <a:rPr b="1" dirty="0"/>
              <a:t>Operational </a:t>
            </a:r>
            <a:r>
              <a:rPr lang="en-US" b="1" dirty="0"/>
              <a:t>verticals</a:t>
            </a:r>
            <a:r>
              <a:rPr b="1" dirty="0"/>
              <a:t>: </a:t>
            </a:r>
            <a:endParaRPr lang="en-US" b="1" dirty="0"/>
          </a:p>
          <a:p>
            <a:pPr>
              <a:defRPr sz="1000">
                <a:solidFill>
                  <a:srgbClr val="475569"/>
                </a:solidFill>
                <a:latin typeface="Google Sans"/>
              </a:defRPr>
            </a:pPr>
            <a:r>
              <a:rPr dirty="0"/>
              <a:t>1. External Providers </a:t>
            </a:r>
            <a:endParaRPr lang="en-US" dirty="0"/>
          </a:p>
          <a:p>
            <a:pPr>
              <a:defRPr sz="1000">
                <a:solidFill>
                  <a:srgbClr val="475569"/>
                </a:solidFill>
                <a:latin typeface="Google Sans"/>
              </a:defRPr>
            </a:pPr>
            <a:r>
              <a:rPr dirty="0"/>
              <a:t>2. Ingestion &amp; Cache  </a:t>
            </a:r>
            <a:endParaRPr lang="en-US" dirty="0"/>
          </a:p>
          <a:p>
            <a:pPr>
              <a:defRPr sz="1000">
                <a:solidFill>
                  <a:srgbClr val="475569"/>
                </a:solidFill>
                <a:latin typeface="Google Sans"/>
              </a:defRPr>
            </a:pPr>
            <a:r>
              <a:rPr dirty="0"/>
              <a:t>3. Epistemic Validation  </a:t>
            </a:r>
            <a:endParaRPr lang="en-US" dirty="0"/>
          </a:p>
          <a:p>
            <a:pPr>
              <a:defRPr sz="1000">
                <a:solidFill>
                  <a:srgbClr val="475569"/>
                </a:solidFill>
                <a:latin typeface="Google Sans"/>
              </a:defRPr>
            </a:pPr>
            <a:r>
              <a:rPr dirty="0"/>
              <a:t>4. Spatial Graph Analysis </a:t>
            </a:r>
            <a:endParaRPr lang="en-US" dirty="0"/>
          </a:p>
          <a:p>
            <a:pPr>
              <a:defRPr sz="1000">
                <a:solidFill>
                  <a:srgbClr val="475569"/>
                </a:solidFill>
                <a:latin typeface="Google Sans"/>
              </a:defRPr>
            </a:pPr>
            <a:r>
              <a:rPr dirty="0"/>
              <a:t>5. Decision Engine  </a:t>
            </a:r>
            <a:endParaRPr lang="en-US" dirty="0"/>
          </a:p>
          <a:p>
            <a:pPr>
              <a:defRPr sz="1000">
                <a:solidFill>
                  <a:srgbClr val="475569"/>
                </a:solidFill>
                <a:latin typeface="Google Sans"/>
              </a:defRPr>
            </a:pPr>
            <a:r>
              <a:rPr dirty="0"/>
              <a:t>6. Civil Commander Sanction  </a:t>
            </a:r>
            <a:endParaRPr lang="en-US" dirty="0"/>
          </a:p>
          <a:p>
            <a:pPr>
              <a:defRPr sz="1000">
                <a:solidFill>
                  <a:srgbClr val="475569"/>
                </a:solidFill>
                <a:latin typeface="Google Sans"/>
              </a:defRPr>
            </a:pPr>
            <a:r>
              <a:rPr dirty="0"/>
              <a:t>7. Audit Ledger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3_img1_3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0735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658368"/>
            <a:ext cx="8449056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Google Sans"/>
              </a:defRPr>
            </a:pPr>
            <a:r>
              <a:t>Wireframes/Mock diagrams of the proposed solution (optional)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3977639"/>
            <a:ext cx="4069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Figure 1: Dual-Panel Situational Awareness Console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Interactive 2D Leaflet flood vectors with Esri satellite imagery; dynamic settlement reachability cards and isolated population indicators.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27448" y="3977639"/>
            <a:ext cx="4069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Figure 2: Commander Review &amp; Sanction Order Terminal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Formal statutory memo generation with exact radar timestamps, bridge ROI calculations, digital signature locks, and multi-channel dispatch.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2671FDA-56B6-9230-4AC3-E5CA792DB0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930" y="1188720"/>
            <a:ext cx="4076622" cy="256032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9E05808-D02D-5E60-9B34-BDA6531018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7448" y="1188721"/>
            <a:ext cx="4077737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3_img1_3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0735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658368"/>
            <a:ext cx="8449056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Google Sans"/>
              </a:defRPr>
            </a:pPr>
            <a:r>
              <a:t>Architecture diagram of the proposed solution</a:t>
            </a:r>
          </a:p>
        </p:txBody>
      </p:sp>
      <p:pic>
        <p:nvPicPr>
          <p:cNvPr id="4" name="Picture 3" descr="lifeline_os_system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223" y="1021879"/>
            <a:ext cx="7124126" cy="40073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96254" y="1021879"/>
            <a:ext cx="186597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Google Sans"/>
              </a:defRPr>
            </a:pPr>
            <a:r>
              <a:rPr dirty="0"/>
              <a:t>System Layers: </a:t>
            </a:r>
            <a:endParaRPr lang="en-US" dirty="0"/>
          </a:p>
          <a:p>
            <a:pPr>
              <a:defRPr sz="1000">
                <a:solidFill>
                  <a:srgbClr val="475569"/>
                </a:solidFill>
                <a:latin typeface="Google Sans"/>
              </a:defRPr>
            </a:pPr>
            <a:r>
              <a:rPr dirty="0"/>
              <a:t>External Providers  ──►  Ingestion &amp; Edge Cache  ──►  Geospatial Core (Turf.js/</a:t>
            </a:r>
            <a:r>
              <a:rPr dirty="0" err="1"/>
              <a:t>NetworkX</a:t>
            </a:r>
            <a:r>
              <a:rPr dirty="0"/>
              <a:t>)  ──►  Decision Optimization  ──►  Command Dispatch &amp; Audit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3_img1_3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0735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658368"/>
            <a:ext cx="8449056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Google Sans"/>
              </a:defRPr>
            </a:pPr>
            <a:r>
              <a:t>Technologies to be used in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1188720"/>
            <a:ext cx="844905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50" b="1">
                <a:solidFill>
                  <a:srgbClr val="2563EB"/>
                </a:solidFill>
              </a:rPr>
              <a:t>●  Frontend &amp; Edge Architecture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React 19, TypeScript, Vite, Tailwind CSS, Lucide Icons, HTML5 Canvas API.</a:t>
            </a:r>
            <a:br/>
            <a:r>
              <a:t>Operates as an edge-first Progressive Web Application (PWA) with zero cold-start delay.</a:t>
            </a:r>
          </a:p>
          <a:p>
            <a:pPr>
              <a:spcAft>
                <a:spcPts val="200"/>
              </a:spcAft>
            </a:pPr>
            <a:r>
              <a:rPr sz="1250" b="1">
                <a:solidFill>
                  <a:srgbClr val="2563EB"/>
                </a:solidFill>
              </a:rPr>
              <a:t>●  Geospatial &amp; Network Graph Engine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Turf.js (vector polygon intersection, lineSlice, topological cleaning), Proj4js (EPSG:32646 metric UTM Zone 46N reprojection), NetworkX (dynamic Dijkstra shortest paths &amp; graph percolation), Leaflet &amp; MapLibre GL for dual 2D/3D visualization.</a:t>
            </a:r>
          </a:p>
          <a:p>
            <a:pPr>
              <a:spcAft>
                <a:spcPts val="200"/>
              </a:spcAft>
            </a:pPr>
            <a:r>
              <a:rPr sz="1250" b="1">
                <a:solidFill>
                  <a:srgbClr val="2563EB"/>
                </a:solidFill>
              </a:rPr>
              <a:t>●  Data Validation, Provenance &amp; Client Storage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Zod type-safe schema validators, IndexedDB (Dexie/idb) for edge client storage during telecommunication blackouts, Web Workers for asynchronous non-blocking graph traversal, SHA-256 Merkle hash chain implementation for post-disaster audit trails.</a:t>
            </a:r>
          </a:p>
          <a:p>
            <a:pPr>
              <a:spcAft>
                <a:spcPts val="200"/>
              </a:spcAft>
            </a:pPr>
            <a:r>
              <a:rPr sz="1250" b="1">
                <a:solidFill>
                  <a:srgbClr val="2563EB"/>
                </a:solidFill>
              </a:rPr>
              <a:t>●  Cloud, Geospatial APIs &amp; Dispatch Services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Google Cloud Storage (tiled GeoTIFF raster cache), Google Cloud Run (lightweight serverless sync), Firebase Firestore (collaborative command state), Copernicus Open Access Hub (Sentinel-1 SAR), Open-Meteo REST API, ntfy push notification webhook, Twilio SMS fallback gateway.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3_img1_3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0735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658368"/>
            <a:ext cx="8449056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Google Sans"/>
              </a:defRPr>
            </a:pPr>
            <a:r>
              <a:t>Estimated implementation cost (optional)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1188720"/>
            <a:ext cx="844905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D9488"/>
                </a:solidFill>
                <a:latin typeface="Google Sans"/>
              </a:defRPr>
            </a:pPr>
            <a:r>
              <a:rPr dirty="0"/>
              <a:t>Transparent Public-Sector Deployment Model (Budget per District Disaster Management Authority)</a:t>
            </a:r>
          </a:p>
          <a:p>
            <a:pPr>
              <a:spcAft>
                <a:spcPts val="600"/>
              </a:spcAft>
            </a:pPr>
            <a:r>
              <a:rPr sz="1150" b="1" dirty="0">
                <a:solidFill>
                  <a:srgbClr val="0F172A"/>
                </a:solidFill>
              </a:rPr>
              <a:t>•  Client-Side Architectural Advantage (Zero High-End Servers Required): </a:t>
            </a:r>
            <a:r>
              <a:rPr sz="1100" b="0" dirty="0">
                <a:solidFill>
                  <a:srgbClr val="475569"/>
                </a:solidFill>
              </a:rPr>
              <a:t>Because graph traversal and spatial calculations run client-side in browser Web Workers, field offices and District Emergency Operation Centers (DEOCs) run Lifeline OS on existing standard duty laptops (Core i5 / 8GB RAM). Zero expensive GPU clusters required.</a:t>
            </a:r>
          </a:p>
          <a:p>
            <a:pPr>
              <a:spcAft>
                <a:spcPts val="600"/>
              </a:spcAft>
            </a:pPr>
            <a:r>
              <a:rPr sz="1150" b="1" dirty="0">
                <a:solidFill>
                  <a:srgbClr val="0F172A"/>
                </a:solidFill>
              </a:rPr>
              <a:t>•  Cloud Infrastructure (Google Cloud Platform): </a:t>
            </a:r>
            <a:r>
              <a:rPr sz="1100" b="0" dirty="0">
                <a:solidFill>
                  <a:srgbClr val="475569"/>
                </a:solidFill>
              </a:rPr>
              <a:t>• Google Cloud Run (Microservices API): ~$15 / month (standby); ~$45 / month (disaster surge)
• Google Cloud Storage (</a:t>
            </a:r>
            <a:r>
              <a:rPr sz="1100" b="0" dirty="0" err="1">
                <a:solidFill>
                  <a:srgbClr val="475569"/>
                </a:solidFill>
              </a:rPr>
              <a:t>GeoTIFF</a:t>
            </a:r>
            <a:r>
              <a:rPr sz="1100" b="0" dirty="0">
                <a:solidFill>
                  <a:srgbClr val="475569"/>
                </a:solidFill>
              </a:rPr>
              <a:t> tile cache): ~$10 / month
• Firebase </a:t>
            </a:r>
            <a:r>
              <a:rPr sz="1100" b="0" dirty="0" err="1">
                <a:solidFill>
                  <a:srgbClr val="475569"/>
                </a:solidFill>
              </a:rPr>
              <a:t>Firestore</a:t>
            </a:r>
            <a:r>
              <a:rPr sz="1100" b="0" dirty="0">
                <a:solidFill>
                  <a:srgbClr val="475569"/>
                </a:solidFill>
              </a:rPr>
              <a:t> (Live multi-user sync): ~$20 / month
• Total GCP Run-Rate: ~$45 / month (dry season) to ~$85 / month (monsoon activation).</a:t>
            </a:r>
          </a:p>
          <a:p>
            <a:pPr>
              <a:spcAft>
                <a:spcPts val="600"/>
              </a:spcAft>
            </a:pPr>
            <a:r>
              <a:rPr sz="1150" b="1" dirty="0">
                <a:solidFill>
                  <a:srgbClr val="0F172A"/>
                </a:solidFill>
              </a:rPr>
              <a:t>•  Satellite Data &amp; Telemetry Ingestion: </a:t>
            </a:r>
            <a:r>
              <a:rPr sz="1100" b="0" dirty="0">
                <a:solidFill>
                  <a:srgbClr val="475569"/>
                </a:solidFill>
              </a:rPr>
              <a:t>• Copernicus Sentinel-1 SAR: $0 (Free &amp; open access via Copernicus Data Space Ecosystem)
• Open-</a:t>
            </a:r>
            <a:r>
              <a:rPr sz="1100" b="0" dirty="0" err="1">
                <a:solidFill>
                  <a:srgbClr val="475569"/>
                </a:solidFill>
              </a:rPr>
              <a:t>Meteo</a:t>
            </a:r>
            <a:r>
              <a:rPr sz="1100" b="0" dirty="0">
                <a:solidFill>
                  <a:srgbClr val="475569"/>
                </a:solidFill>
              </a:rPr>
              <a:t> Weather: $0 (Permitted public tier) or $35/</a:t>
            </a:r>
            <a:r>
              <a:rPr sz="1100" b="0" dirty="0" err="1">
                <a:solidFill>
                  <a:srgbClr val="475569"/>
                </a:solidFill>
              </a:rPr>
              <a:t>mo</a:t>
            </a:r>
            <a:r>
              <a:rPr sz="1100" b="0" dirty="0">
                <a:solidFill>
                  <a:srgbClr val="475569"/>
                </a:solidFill>
              </a:rPr>
              <a:t> (commercial SLA)
• OpenStreetMap: $0 (Open Database License - </a:t>
            </a:r>
            <a:r>
              <a:rPr sz="1100" b="0" dirty="0" err="1">
                <a:solidFill>
                  <a:srgbClr val="475569"/>
                </a:solidFill>
              </a:rPr>
              <a:t>ODbL</a:t>
            </a:r>
            <a:r>
              <a:rPr sz="1100" b="0" dirty="0">
                <a:solidFill>
                  <a:srgbClr val="475569"/>
                </a:solidFill>
              </a:rPr>
              <a:t>).</a:t>
            </a:r>
          </a:p>
          <a:p>
            <a:pPr>
              <a:spcAft>
                <a:spcPts val="600"/>
              </a:spcAft>
            </a:pPr>
            <a:r>
              <a:rPr sz="1150" b="1" dirty="0">
                <a:solidFill>
                  <a:srgbClr val="0F172A"/>
                </a:solidFill>
              </a:rPr>
              <a:t>•  Annual Total Cost of Ownership (TCO): </a:t>
            </a:r>
            <a:r>
              <a:rPr sz="1100" b="0" dirty="0">
                <a:solidFill>
                  <a:srgbClr val="475569"/>
                </a:solidFill>
              </a:rPr>
              <a:t>Estimated at &lt;$1,200 / year per district. Compares against legacy enterprise GIS solutions costing &gt;$40,000 in annual recurring seat licenses while lacking automated emergency accessibility and staging algorithms.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3E98D-7D81-ED43-1CC3-75C1700E2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3_img1_35.jpeg">
            <a:extLst>
              <a:ext uri="{FF2B5EF4-FFF2-40B4-BE49-F238E27FC236}">
                <a16:creationId xmlns:a16="http://schemas.microsoft.com/office/drawing/2014/main" id="{82FB75E9-DA3E-1FD6-3481-D03DD42CDB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0735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4F23BD3-0434-4B5B-F6E8-AF6F4295EA4C}"/>
              </a:ext>
            </a:extLst>
          </p:cNvPr>
          <p:cNvSpPr txBox="1"/>
          <p:nvPr/>
        </p:nvSpPr>
        <p:spPr>
          <a:xfrm>
            <a:off x="347472" y="658368"/>
            <a:ext cx="8449056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Google Sans"/>
              </a:defRPr>
            </a:pPr>
            <a:r>
              <a:t>Snapshots of the prototype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E82404-5839-2E71-636C-BE3B4B4DF705}"/>
              </a:ext>
            </a:extLst>
          </p:cNvPr>
          <p:cNvSpPr txBox="1"/>
          <p:nvPr/>
        </p:nvSpPr>
        <p:spPr>
          <a:xfrm>
            <a:off x="276588" y="2548236"/>
            <a:ext cx="406908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Google Sans"/>
              </a:defRPr>
            </a:pPr>
            <a:r>
              <a:rPr dirty="0"/>
              <a:t>Main Situational Command Dashboard</a:t>
            </a:r>
            <a:r>
              <a:rPr lang="en-US" dirty="0"/>
              <a:t>, Damage and Ground Report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B67E57-1B7C-570B-D0F8-8D066B06AB03}"/>
              </a:ext>
            </a:extLst>
          </p:cNvPr>
          <p:cNvSpPr txBox="1"/>
          <p:nvPr/>
        </p:nvSpPr>
        <p:spPr>
          <a:xfrm>
            <a:off x="4656564" y="2591673"/>
            <a:ext cx="4069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Google Sans"/>
              </a:defRPr>
            </a:pPr>
            <a:r>
              <a:rPr dirty="0"/>
              <a:t>Health Block Exposure &amp; Vulnerability Summary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DD4E4F-D422-9E41-9060-43C97B0656A4}"/>
              </a:ext>
            </a:extLst>
          </p:cNvPr>
          <p:cNvSpPr txBox="1"/>
          <p:nvPr/>
        </p:nvSpPr>
        <p:spPr>
          <a:xfrm>
            <a:off x="276588" y="4757075"/>
            <a:ext cx="4069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Google Sans"/>
              </a:defRPr>
            </a:pPr>
            <a:r>
              <a:rPr dirty="0"/>
              <a:t>Cut-Edge Road Disruption &amp; Detour Mapping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0092E6-9E5C-7E9E-B8D2-8104E32D77B5}"/>
              </a:ext>
            </a:extLst>
          </p:cNvPr>
          <p:cNvSpPr txBox="1"/>
          <p:nvPr/>
        </p:nvSpPr>
        <p:spPr>
          <a:xfrm>
            <a:off x="4656564" y="4758779"/>
            <a:ext cx="4487436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Google Sans"/>
              </a:defRPr>
            </a:pPr>
            <a:r>
              <a:rPr lang="en-US" dirty="0"/>
              <a:t>Tactical team simulation and resource allocation: Bailey bridge, Hospital camp, Med drone(subject to wind), NDRF Boat(subject to day/night) in dashboard</a:t>
            </a:r>
            <a:endParaRPr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87D515D-DC93-9F53-A0AC-9A0C69E5FF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7448" y="999458"/>
            <a:ext cx="4069080" cy="162941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7538D92-15FF-540D-CA09-5CDBDEAD62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" y="2836276"/>
            <a:ext cx="4069080" cy="19628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2883A97-4F2A-CF22-E84E-A90C86589C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7449" y="2843973"/>
            <a:ext cx="4069080" cy="19551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E46C58E-8F53-B98B-D9CF-ECA50A239B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72" y="999459"/>
            <a:ext cx="4017691" cy="1610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1603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3_img1_3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0735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658368"/>
            <a:ext cx="8449056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Google Sans"/>
              </a:defRPr>
            </a:pPr>
            <a:r>
              <a:t>Snapshots of the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69981" y="4566102"/>
            <a:ext cx="4401737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Google Sans"/>
              </a:defRPr>
            </a:pPr>
            <a:r>
              <a:rPr lang="en-US" dirty="0"/>
              <a:t>Broadcast message to disconnected villagers for immediate communication, trust and relief.</a:t>
            </a:r>
          </a:p>
          <a:p>
            <a:pPr>
              <a:defRPr sz="950" b="1">
                <a:solidFill>
                  <a:srgbClr val="0F172A"/>
                </a:solidFill>
                <a:latin typeface="Google Sans"/>
              </a:defRPr>
            </a:pPr>
            <a:r>
              <a:rPr lang="en-US" dirty="0"/>
              <a:t>- Supports multilingual, native languages</a:t>
            </a:r>
            <a:endParaRPr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7D32968-AAA3-FCCC-A3A1-A65910A82C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151" y="1256686"/>
            <a:ext cx="1611814" cy="349737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A8C58A6-C87A-C3CF-1BBD-95BAE06341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3534" y="1256686"/>
            <a:ext cx="1611814" cy="349737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4493804-C576-859A-68F3-EE6A1C60E8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1879" y="2571750"/>
            <a:ext cx="4337942" cy="197398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522C4A3-FB8C-A5C1-B424-D223580D38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01879" y="694880"/>
            <a:ext cx="4337942" cy="18418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28B80-B5AE-40AC-B58A-A173E82A6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3_img1_35.jpeg">
            <a:extLst>
              <a:ext uri="{FF2B5EF4-FFF2-40B4-BE49-F238E27FC236}">
                <a16:creationId xmlns:a16="http://schemas.microsoft.com/office/drawing/2014/main" id="{2BC03DF6-5AA0-ED79-8228-D708F7302E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0735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D76B71F-B52C-0DE4-9329-D8B01A188955}"/>
              </a:ext>
            </a:extLst>
          </p:cNvPr>
          <p:cNvSpPr txBox="1"/>
          <p:nvPr/>
        </p:nvSpPr>
        <p:spPr>
          <a:xfrm>
            <a:off x="347472" y="658368"/>
            <a:ext cx="8449056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Google Sans"/>
              </a:defRPr>
            </a:pPr>
            <a:r>
              <a:rPr dirty="0"/>
              <a:t>Snapshots of the prototype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86CFDC-6662-C3DF-DFC7-A14DF3D2E41D}"/>
              </a:ext>
            </a:extLst>
          </p:cNvPr>
          <p:cNvSpPr txBox="1"/>
          <p:nvPr/>
        </p:nvSpPr>
        <p:spPr>
          <a:xfrm>
            <a:off x="389223" y="4916296"/>
            <a:ext cx="1669666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Google Sans"/>
              </a:defRPr>
            </a:pPr>
            <a:r>
              <a:rPr lang="en-US" dirty="0"/>
              <a:t>Ground Report Generation</a:t>
            </a:r>
            <a:endParaRPr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2BC256A-F772-85C1-3B11-0BB380E8FE97}"/>
              </a:ext>
            </a:extLst>
          </p:cNvPr>
          <p:cNvGrpSpPr/>
          <p:nvPr/>
        </p:nvGrpSpPr>
        <p:grpSpPr>
          <a:xfrm>
            <a:off x="170262" y="1038076"/>
            <a:ext cx="2107590" cy="3884703"/>
            <a:chOff x="347471" y="1038076"/>
            <a:chExt cx="2107590" cy="3884703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D424565-548E-325D-61E2-980EAAC76E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7472" y="1038076"/>
              <a:ext cx="2107589" cy="240738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CA19699-6023-F57B-405D-518C4B46F4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47471" y="3633106"/>
              <a:ext cx="2107589" cy="1289673"/>
            </a:xfrm>
            <a:prstGeom prst="rect">
              <a:avLst/>
            </a:prstGeom>
          </p:spPr>
        </p:pic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6B418F9A-105F-358F-29F3-791A4D122D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6685" y="1042917"/>
            <a:ext cx="3176894" cy="388470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BA05C2B-11FD-1EA2-BCBC-15AC5DF0CEDF}"/>
              </a:ext>
            </a:extLst>
          </p:cNvPr>
          <p:cNvSpPr txBox="1"/>
          <p:nvPr/>
        </p:nvSpPr>
        <p:spPr>
          <a:xfrm>
            <a:off x="3531604" y="4904973"/>
            <a:ext cx="1669666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Google Sans"/>
              </a:defRPr>
            </a:pPr>
            <a:r>
              <a:rPr lang="en-US" dirty="0"/>
              <a:t>Evidence Catalogue</a:t>
            </a:r>
            <a:endParaRPr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A364BCE-477E-4A5B-411E-2CF90C8718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2342" y="1054240"/>
            <a:ext cx="3228330" cy="386205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6D6C5F5-0224-73B9-DBE4-334A278B7FD9}"/>
              </a:ext>
            </a:extLst>
          </p:cNvPr>
          <p:cNvSpPr txBox="1"/>
          <p:nvPr/>
        </p:nvSpPr>
        <p:spPr>
          <a:xfrm>
            <a:off x="6673985" y="4904972"/>
            <a:ext cx="1669666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Google Sans"/>
              </a:defRPr>
            </a:pPr>
            <a:r>
              <a:rPr lang="en-US" dirty="0"/>
              <a:t>Exploration &amp; Uncertainties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512505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3_img1_3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0735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658368"/>
            <a:ext cx="8449056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Google Sans"/>
              </a:defRPr>
            </a:pPr>
            <a:r>
              <a:t>Prototype Performance report/Benchmarking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1188720"/>
            <a:ext cx="844905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563EB"/>
                </a:solidFill>
                <a:latin typeface="Google Sans"/>
              </a:defRPr>
            </a:pPr>
            <a:r>
              <a:t>Empirical System Benchmarks Measured on Cachar District, Assam Operational Dataset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0F172A"/>
                </a:solidFill>
              </a:rPr>
              <a:t>•  Road Graph Scale: </a:t>
            </a:r>
            <a:r>
              <a:rPr sz="1100" b="0">
                <a:solidFill>
                  <a:srgbClr val="475569"/>
                </a:solidFill>
              </a:rPr>
              <a:t>31,214 topological nodes and 69,663 directed metric edges in UTM Zone 46N.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0F172A"/>
                </a:solidFill>
              </a:rPr>
              <a:t>•  Cut-Edge Percolation Slicing: </a:t>
            </a:r>
            <a:r>
              <a:rPr sz="1100" b="0">
                <a:solidFill>
                  <a:srgbClr val="475569"/>
                </a:solidFill>
              </a:rPr>
              <a:t>Calculates intersection between radar flood polygons and 69,663 road segments in 840ms (Web Worker). Flags exactly 1,830 severed edges without thread-blocking the UI.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0F172A"/>
                </a:solidFill>
              </a:rPr>
              <a:t>•  Dynamic Dijkstra Routing: </a:t>
            </a:r>
            <a:r>
              <a:rPr sz="1100" b="0">
                <a:solidFill>
                  <a:srgbClr val="475569"/>
                </a:solidFill>
              </a:rPr>
              <a:t>Evaluates shortest baseline vs disrupted travel times for all 319 settlements to their nearest BPHC in &lt;1.2 seconds.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0F172A"/>
                </a:solidFill>
              </a:rPr>
              <a:t>•  Facility Location Optimization (k-Medoids): </a:t>
            </a:r>
            <a:r>
              <a:rPr sz="1100" b="0">
                <a:solidFill>
                  <a:srgbClr val="475569"/>
                </a:solidFill>
              </a:rPr>
              <a:t>Identifies 3 optimal non-flooded, high-elevation staging pads for relief boats across isolated clusters in 210ms.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0F172A"/>
                </a:solidFill>
              </a:rPr>
              <a:t>•  Micro-Bridge ROI Solver: </a:t>
            </a:r>
            <a:r>
              <a:rPr sz="1100" b="0">
                <a:solidFill>
                  <a:srgbClr val="475569"/>
                </a:solidFill>
              </a:rPr>
              <a:t>Iteratively simulates reconnection of candidate severed spans and computes population/distance accessibility return in 340ms.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0F172A"/>
                </a:solidFill>
              </a:rPr>
              <a:t>•  Client Edge Memory Footprint: </a:t>
            </a:r>
            <a:r>
              <a:rPr sz="1100" b="0">
                <a:solidFill>
                  <a:srgbClr val="475569"/>
                </a:solidFill>
              </a:rPr>
              <a:t>Consumes &lt;85 MB heap in Chromium; runs 100% offline via IndexedDB during extended emergency disconnections.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0F172A"/>
                </a:solidFill>
              </a:rPr>
              <a:t>•  Evaluation Methodology: </a:t>
            </a:r>
            <a:r>
              <a:rPr sz="1100" b="0">
                <a:solidFill>
                  <a:srgbClr val="475569"/>
                </a:solidFill>
              </a:rPr>
              <a:t>Benchmarked on historical replay of the catastrophic June 2022 Barak River flood event using ground-truth flood damage audits.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3_img1_3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0735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658368"/>
            <a:ext cx="8449056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Google Sans"/>
              </a:defRPr>
            </a:pPr>
            <a:r>
              <a:t>Additional Details/Future Development (if any)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1188720"/>
            <a:ext cx="844905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D9488"/>
                </a:solidFill>
                <a:latin typeface="Google Sans"/>
              </a:defRPr>
            </a:pPr>
            <a:r>
              <a:t>Operational Scaling &amp; Field Implementation Roadmap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0F172A"/>
                </a:solidFill>
              </a:rPr>
              <a:t>●  Phase 1: Completed Functional Prototype (Current):
   </a:t>
            </a:r>
            <a:r>
              <a:rPr sz="1100" b="0">
                <a:solidFill>
                  <a:srgbClr val="475569"/>
                </a:solidFill>
              </a:rPr>
              <a:t>Fully working standalone decision-support application with Cachar District road network, Sentinel-1 SAR flood extent vectorization, Dijkstra routing, k-medoids staging, and bridge ROI solver.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0F172A"/>
                </a:solidFill>
              </a:rPr>
              <a:t>●  Phase 2: District Disaster Management Table-Top Exercise (Q1 2027):
   </a:t>
            </a:r>
            <a:r>
              <a:rPr sz="1100" b="0">
                <a:solidFill>
                  <a:srgbClr val="475569"/>
                </a:solidFill>
              </a:rPr>
              <a:t>Simulated tabletop trial with Cachar DDMA (Silchar) and SDRF commanders to validate situational action memos and test offline PWA performance under simulated field network dropouts.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0F172A"/>
                </a:solidFill>
              </a:rPr>
              <a:t>●  Phase 3: Hardware &amp; Sensor Telemetry Ingestion (Q2 2027):
   </a:t>
            </a:r>
            <a:r>
              <a:rPr sz="1100" b="0">
                <a:solidFill>
                  <a:srgbClr val="475569"/>
                </a:solidFill>
              </a:rPr>
              <a:t>Integrate automated river gauge ultrasonic telemetry from Central Water Commission (CWC) stations and automated drone aerial orthomosaic vectorization for immediate culvert breach verification.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0F172A"/>
                </a:solidFill>
              </a:rPr>
              <a:t>●  Phase 4: Basin-Wide Scaling Across Assam &amp; JAPAC (Q3 2027):
   </a:t>
            </a:r>
            <a:r>
              <a:rPr sz="1100" b="0">
                <a:solidFill>
                  <a:srgbClr val="475569"/>
                </a:solidFill>
              </a:rPr>
              <a:t>Scale graph coverage to cover high-vulnerability flood districts along the Brahmaputra corridor (Dhubri, Morigaon, Dhemaji) and package as an open-source public good for flood-prone regions across Southeast Asia.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3_img1_3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0735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658368"/>
            <a:ext cx="8449056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Google Sans"/>
              </a:defRPr>
            </a:pPr>
            <a:r>
              <a:t>Provide links to your: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1188720"/>
            <a:ext cx="844905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 dirty="0">
                <a:solidFill>
                  <a:srgbClr val="0F172A"/>
                </a:solidFill>
              </a:rPr>
              <a:t>●  GitHub Public Repository</a:t>
            </a:r>
          </a:p>
          <a:p>
            <a:pPr>
              <a:spcAft>
                <a:spcPts val="200"/>
              </a:spcAft>
            </a:pPr>
            <a:r>
              <a:rPr sz="1150" b="1" dirty="0">
                <a:solidFill>
                  <a:srgbClr val="2563EB"/>
                </a:solidFill>
              </a:rPr>
              <a:t>    URL: https://github.com/MsMansiDhruv/lifeline-os</a:t>
            </a:r>
          </a:p>
          <a:p>
            <a:pPr>
              <a:spcAft>
                <a:spcPts val="1000"/>
              </a:spcAft>
              <a:defRPr sz="1100">
                <a:solidFill>
                  <a:srgbClr val="475569"/>
                </a:solidFill>
              </a:defRPr>
            </a:pPr>
            <a:r>
              <a:rPr dirty="0"/>
              <a:t>    Full open-source codebase containing React 19 / TypeScript application, Turf.js spatial pipeline, Proj4js metric </a:t>
            </a:r>
            <a:r>
              <a:rPr dirty="0" err="1"/>
              <a:t>reprojectors</a:t>
            </a:r>
            <a:r>
              <a:rPr dirty="0"/>
              <a:t>, </a:t>
            </a:r>
            <a:r>
              <a:rPr dirty="0" err="1"/>
              <a:t>NetworkX</a:t>
            </a:r>
            <a:r>
              <a:rPr dirty="0"/>
              <a:t> Dijkstra graph solver, and offline </a:t>
            </a:r>
            <a:r>
              <a:rPr dirty="0" err="1"/>
              <a:t>IndexedDB</a:t>
            </a:r>
            <a:r>
              <a:rPr dirty="0"/>
              <a:t> persistence engine.</a:t>
            </a:r>
          </a:p>
          <a:p>
            <a:pPr>
              <a:spcAft>
                <a:spcPts val="200"/>
              </a:spcAft>
            </a:pPr>
            <a:r>
              <a:rPr sz="1300" b="1" dirty="0">
                <a:solidFill>
                  <a:srgbClr val="0F172A"/>
                </a:solidFill>
              </a:rPr>
              <a:t>●  Demo Video Link (3 Minutes)</a:t>
            </a:r>
          </a:p>
          <a:p>
            <a:pPr>
              <a:spcAft>
                <a:spcPts val="200"/>
              </a:spcAft>
            </a:pPr>
            <a:r>
              <a:rPr sz="1150" b="1" dirty="0">
                <a:solidFill>
                  <a:srgbClr val="2563EB"/>
                </a:solidFill>
              </a:rPr>
              <a:t>    URL: https://youtu.be/ [Flagged for User Video Link]</a:t>
            </a:r>
          </a:p>
          <a:p>
            <a:pPr>
              <a:spcAft>
                <a:spcPts val="1000"/>
              </a:spcAft>
              <a:defRPr sz="1100">
                <a:solidFill>
                  <a:srgbClr val="475569"/>
                </a:solidFill>
              </a:defRPr>
            </a:pPr>
            <a:r>
              <a:rPr dirty="0"/>
              <a:t>    3-minute recorded walkthrough illustrating multi-scenario flood simulation, cut-edge road disruption analysis, k-medoids relief boat staging, micro-bridge ROI ranking, and civil commander sanction order dispatch.</a:t>
            </a:r>
          </a:p>
          <a:p>
            <a:pPr>
              <a:spcAft>
                <a:spcPts val="200"/>
              </a:spcAft>
            </a:pPr>
            <a:r>
              <a:rPr sz="1300" b="1" dirty="0">
                <a:solidFill>
                  <a:srgbClr val="0F172A"/>
                </a:solidFill>
              </a:rPr>
              <a:t>●  Final Product Link (Live Deployed Prototype)</a:t>
            </a:r>
          </a:p>
          <a:p>
            <a:pPr>
              <a:spcAft>
                <a:spcPts val="200"/>
              </a:spcAft>
            </a:pPr>
            <a:r>
              <a:rPr sz="1150" b="1" dirty="0">
                <a:solidFill>
                  <a:srgbClr val="2563EB"/>
                </a:solidFill>
              </a:rPr>
              <a:t>    URL: https://lifeline-os.ai.studio/</a:t>
            </a:r>
          </a:p>
          <a:p>
            <a:pPr>
              <a:spcAft>
                <a:spcPts val="1000"/>
              </a:spcAft>
              <a:defRPr sz="1100">
                <a:solidFill>
                  <a:srgbClr val="475569"/>
                </a:solidFill>
              </a:defRPr>
            </a:pPr>
            <a:r>
              <a:rPr dirty="0"/>
              <a:t>    Production-deployed cloud interactive prototype hosted on Google AI Studio / Cloud Run, fully functional and accessible for evaluator testing with historical </a:t>
            </a:r>
            <a:r>
              <a:rPr dirty="0" err="1"/>
              <a:t>Cachar</a:t>
            </a:r>
            <a:r>
              <a:rPr dirty="0"/>
              <a:t> flood scenarios.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3_img1_3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0735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658368"/>
            <a:ext cx="8449056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Google Sans"/>
              </a:defRPr>
            </a:pPr>
            <a:r>
              <a:t>System Evaluation, Governance &amp; Ethical 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1188720"/>
            <a:ext cx="844905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  <a:latin typeface="Google Sans"/>
              </a:defRPr>
            </a:pPr>
            <a:r>
              <a:t>Operational Guardrails &amp; Compliance with Disaster Management Protocols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0F172A"/>
                </a:solidFill>
              </a:rPr>
              <a:t>•  Non-Confirmatory Spatial Exposure Guarantee: </a:t>
            </a:r>
            <a:r>
              <a:rPr sz="1100" b="0">
                <a:solidFill>
                  <a:srgbClr val="475569"/>
                </a:solidFill>
              </a:rPr>
              <a:t>Raw spatial intersections between radar water masks and OSM vectors are strictly classified as 'Potential Road Inundation / Exposure.' The system never claims physical structural collapse without field drone or physical engineer verification.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0F172A"/>
                </a:solidFill>
              </a:rPr>
              <a:t>•  No Hallucinated Emergency Routing: </a:t>
            </a:r>
            <a:r>
              <a:rPr sz="1100" b="0">
                <a:solidFill>
                  <a:srgbClr val="475569"/>
                </a:solidFill>
              </a:rPr>
              <a:t>When road networks are severed, the engine terminates with explicit NO_ROUTE error boundaries rather than suggesting unverified dirt tracks or submerged causeways that endanger emergency vehicles.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0F172A"/>
                </a:solidFill>
              </a:rPr>
              <a:t>•  Mandatory Human-in-the-Loop Authority: </a:t>
            </a:r>
            <a:r>
              <a:rPr sz="1100" b="0">
                <a:solidFill>
                  <a:srgbClr val="475569"/>
                </a:solidFill>
              </a:rPr>
              <a:t>Strict alignment with India's Disaster Management Act 2005. Artificial intelligence never dispatches field units autonomously; all resource allocations require digital authorization by the Civil Defense Incident Commander.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0F172A"/>
                </a:solidFill>
              </a:rPr>
              <a:t>•  Cryptographic Auditability &amp; Lineage: </a:t>
            </a:r>
            <a:r>
              <a:rPr sz="1100" b="0">
                <a:solidFill>
                  <a:srgbClr val="475569"/>
                </a:solidFill>
              </a:rPr>
              <a:t>Every simulation snapshot, manual commander override, and bridge priority decision is hashed into an immutable SHA-256 Merkle chain, establishing legal provenance for post-disaster judicial and legislative review.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16_img2_10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0" y="2490281"/>
            <a:ext cx="4572000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Google Sans"/>
              </a:defRPr>
            </a:pPr>
            <a:r>
              <a:rPr dirty="0"/>
              <a:t>Lifeline OS — Flood Impact Intelligence &amp; Emergency Response</a:t>
            </a:r>
          </a:p>
          <a:p>
            <a:pPr>
              <a:defRPr sz="1050">
                <a:solidFill>
                  <a:srgbClr val="94A3B8"/>
                </a:solidFill>
                <a:latin typeface="Google Sans"/>
              </a:defRPr>
            </a:pPr>
            <a:r>
              <a:rPr dirty="0"/>
              <a:t>Google Cloud AI Builder Cup 2026 (JAPAC)  </a:t>
            </a:r>
            <a:endParaRPr lang="en-US" dirty="0"/>
          </a:p>
          <a:p>
            <a:pPr>
              <a:defRPr sz="1050">
                <a:solidFill>
                  <a:srgbClr val="94A3B8"/>
                </a:solidFill>
                <a:latin typeface="Google Sans"/>
              </a:defRPr>
            </a:pPr>
            <a:r>
              <a:rPr dirty="0"/>
              <a:t>Team </a:t>
            </a:r>
            <a:r>
              <a:rPr lang="en-US" dirty="0"/>
              <a:t>Oblique</a:t>
            </a:r>
            <a:br>
              <a:rPr dirty="0"/>
            </a:br>
            <a:r>
              <a:rPr dirty="0"/>
              <a:t>Team: Mansi Dhruv</a:t>
            </a:r>
            <a:r>
              <a:rPr lang="en-US" dirty="0"/>
              <a:t>			Sagar Jayani </a:t>
            </a:r>
            <a:br>
              <a:rPr dirty="0"/>
            </a:br>
            <a:r>
              <a:rPr dirty="0"/>
              <a:t>Live: https://lifeline-os.ai.studio/  </a:t>
            </a:r>
            <a:r>
              <a:rPr lang="en-US" dirty="0"/>
              <a:t>         	</a:t>
            </a:r>
            <a:r>
              <a:rPr dirty="0"/>
              <a:t>GitHub: </a:t>
            </a:r>
            <a:r>
              <a:rPr dirty="0" err="1"/>
              <a:t>MsMansiDhruv</a:t>
            </a:r>
            <a:r>
              <a:rPr dirty="0"/>
              <a:t>/lifeline-</a:t>
            </a:r>
            <a:r>
              <a:rPr dirty="0" err="1"/>
              <a:t>os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2300</Words>
  <Application>Microsoft Office PowerPoint</Application>
  <PresentationFormat>On-screen Show (16:9)</PresentationFormat>
  <Paragraphs>103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 Dhruv</cp:lastModifiedBy>
  <cp:revision>5</cp:revision>
  <dcterms:created xsi:type="dcterms:W3CDTF">2013-01-27T09:14:16Z</dcterms:created>
  <dcterms:modified xsi:type="dcterms:W3CDTF">2026-10-18T17:34:39Z</dcterms:modified>
  <cp:category/>
</cp:coreProperties>
</file>